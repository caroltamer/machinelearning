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5095" y="-197802"/>
            <a:ext cx="9144000" cy="2387600"/>
          </a:xfrm>
        </p:spPr>
        <p:txBody>
          <a:bodyPr/>
          <a:p>
            <a:r>
              <a:rPr lang="en-US" sz="4800" b="1"/>
              <a:t>machine learning project milestone 2</a:t>
            </a:r>
            <a:endParaRPr lang="en-US" sz="48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9370" y="2765108"/>
            <a:ext cx="9144000" cy="1655762"/>
          </a:xfrm>
        </p:spPr>
        <p:txBody>
          <a:bodyPr/>
          <a:p>
            <a:r>
              <a:rPr lang="en-US" sz="3200"/>
              <a:t>fraud detection in medicare providers- project presentation/ dr. nouran khalid</a:t>
            </a:r>
            <a:endParaRPr lang="en-US" sz="3200"/>
          </a:p>
          <a:p>
            <a:endParaRPr lang="en-US"/>
          </a:p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115820" y="4196715"/>
            <a:ext cx="9423400" cy="1469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/>
              <a:t>Name: salma elhossiny   Id: 13003991</a:t>
            </a:r>
            <a:endParaRPr lang="en-US" sz="3200"/>
          </a:p>
          <a:p>
            <a:r>
              <a:rPr lang="en-US" sz="3200"/>
              <a:t>Name: carol tamer           Id: 13006418</a:t>
            </a:r>
            <a:endParaRPr lang="en-US" sz="3200"/>
          </a:p>
          <a:p>
            <a:r>
              <a:rPr lang="en-US" sz="3200"/>
              <a:t>Name: salma gouda        Id: 13001720</a:t>
            </a:r>
            <a:endParaRPr lang="en-US" sz="3200"/>
          </a:p>
          <a:p>
            <a:r>
              <a:rPr lang="en-US" sz="3200"/>
              <a:t>Name: farah sherif           Id: 13005911</a:t>
            </a:r>
            <a:endParaRPr 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medicare fraud detection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00" y="1933575"/>
            <a:ext cx="10972800" cy="4525963"/>
          </a:xfrm>
        </p:spPr>
        <p:txBody>
          <a:bodyPr/>
          <a:p>
            <a:pPr marL="0" indent="0">
              <a:buNone/>
            </a:pPr>
            <a:r>
              <a:rPr lang="en-US" b="1"/>
              <a:t>project goal: </a:t>
            </a:r>
            <a:endParaRPr lang="en-US" b="1"/>
          </a:p>
          <a:p>
            <a:pPr marL="0" indent="0">
              <a:buNone/>
            </a:pPr>
            <a:endParaRPr lang="en-US"/>
          </a:p>
          <a:p>
            <a:r>
              <a:rPr lang="en-US" altLang="en-US">
                <a:sym typeface="+mn-ea"/>
              </a:rPr>
              <a:t>Identify providers who may be involved in fraudulent billing.</a:t>
            </a:r>
            <a:endParaRPr lang="en-US" altLang="en-US"/>
          </a:p>
          <a:p>
            <a:r>
              <a:rPr lang="en-US" altLang="en-US">
                <a:sym typeface="+mn-ea"/>
              </a:rPr>
              <a:t>Help reduce financial loss in Medicare.</a:t>
            </a:r>
            <a:endParaRPr lang="en-US" altLang="en-US"/>
          </a:p>
          <a:p>
            <a:r>
              <a:rPr lang="en-US" altLang="en-US">
                <a:sym typeface="+mn-ea"/>
              </a:rPr>
              <a:t>Build a machine learning model to flag suspicious behavior</a:t>
            </a:r>
            <a:endParaRPr lang="en-US"/>
          </a:p>
        </p:txBody>
      </p:sp>
      <p:pic>
        <p:nvPicPr>
          <p:cNvPr id="5" name="Picture 4" descr="Screenshot 2025-12-01 224056"/>
          <p:cNvPicPr>
            <a:picLocks noChangeAspect="1"/>
          </p:cNvPicPr>
          <p:nvPr/>
        </p:nvPicPr>
        <p:blipFill>
          <a:blip r:embed="rId1"/>
          <a:srcRect l="-242319" t="-106904" r="215072" b="68359"/>
          <a:stretch>
            <a:fillRect/>
          </a:stretch>
        </p:blipFill>
        <p:spPr>
          <a:xfrm>
            <a:off x="4476750" y="1933575"/>
            <a:ext cx="2787650" cy="2841625"/>
          </a:xfrm>
          <a:prstGeom prst="rect">
            <a:avLst/>
          </a:prstGeom>
        </p:spPr>
      </p:pic>
      <p:pic>
        <p:nvPicPr>
          <p:cNvPr id="6" name="Picture 5" descr="Screenshot 2025-12-01 224056"/>
          <p:cNvPicPr>
            <a:picLocks noChangeAspect="1"/>
          </p:cNvPicPr>
          <p:nvPr/>
        </p:nvPicPr>
        <p:blipFill>
          <a:blip r:embed="rId1"/>
          <a:srcRect l="-167824" t="66745" r="166204" b="-68625"/>
          <a:stretch>
            <a:fillRect/>
          </a:stretch>
        </p:blipFill>
        <p:spPr>
          <a:xfrm>
            <a:off x="3962400" y="3568065"/>
            <a:ext cx="2787650" cy="2752725"/>
          </a:xfrm>
          <a:prstGeom prst="rect">
            <a:avLst/>
          </a:prstGeom>
        </p:spPr>
      </p:pic>
      <p:pic>
        <p:nvPicPr>
          <p:cNvPr id="7" name="Picture 6" descr="Screenshot 2025-12-01 224056"/>
          <p:cNvPicPr>
            <a:picLocks noChangeAspect="1"/>
          </p:cNvPicPr>
          <p:nvPr/>
        </p:nvPicPr>
        <p:blipFill>
          <a:blip r:embed="rId1"/>
          <a:srcRect l="-170227" t="64621" r="170455" b="-68953"/>
          <a:stretch>
            <a:fillRect/>
          </a:stretch>
        </p:blipFill>
        <p:spPr>
          <a:xfrm>
            <a:off x="8655050" y="3203575"/>
            <a:ext cx="2787650" cy="27527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3590" y="660400"/>
            <a:ext cx="2244725" cy="21990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we used 4 training datasets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9650" y="2251710"/>
            <a:ext cx="10972800" cy="4525963"/>
          </a:xfrm>
        </p:spPr>
        <p:txBody>
          <a:bodyPr/>
          <a:p>
            <a:r>
              <a:rPr lang="en-US" altLang="en-US">
                <a:sym typeface="+mn-ea"/>
              </a:rPr>
              <a:t>Beneficiary data</a:t>
            </a:r>
            <a:endParaRPr lang="en-US" altLang="en-US"/>
          </a:p>
          <a:p>
            <a:r>
              <a:rPr lang="en-US" altLang="en-US">
                <a:sym typeface="+mn-ea"/>
              </a:rPr>
              <a:t>Inpatient claims</a:t>
            </a:r>
            <a:endParaRPr lang="en-US" altLang="en-US"/>
          </a:p>
          <a:p>
            <a:r>
              <a:rPr lang="en-US" altLang="en-US">
                <a:sym typeface="+mn-ea"/>
              </a:rPr>
              <a:t>Outpatient claims</a:t>
            </a:r>
            <a:endParaRPr lang="en-US" altLang="en-US"/>
          </a:p>
          <a:p>
            <a:r>
              <a:rPr lang="en-US" altLang="en-US">
                <a:sym typeface="+mn-ea"/>
              </a:rPr>
              <a:t>Provider fraud labels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important keys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760" y="2926080"/>
            <a:ext cx="10972800" cy="4525963"/>
          </a:xfrm>
        </p:spPr>
        <p:txBody>
          <a:bodyPr/>
          <a:p>
            <a:r>
              <a:rPr lang="en-US" altLang="en-US">
                <a:sym typeface="+mn-ea"/>
              </a:rPr>
              <a:t>Provider → used to link all claims to fraud labels</a:t>
            </a:r>
            <a:endParaRPr lang="en-US" altLang="en-US"/>
          </a:p>
          <a:p>
            <a:r>
              <a:rPr lang="en-US" altLang="en-US">
                <a:sym typeface="+mn-ea"/>
              </a:rPr>
              <a:t>BeneID → used to link claims to patient info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fraud detection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577340"/>
            <a:ext cx="10972800" cy="4525963"/>
          </a:xfrm>
        </p:spPr>
        <p:txBody>
          <a:bodyPr/>
          <a:p>
            <a:r>
              <a:rPr lang="en-US" altLang="en-US">
                <a:sym typeface="+mn-ea"/>
              </a:rPr>
              <a:t>Fraud cases are very rare (around 8–10%).</a:t>
            </a:r>
            <a:endParaRPr lang="en-US" altLang="en-US"/>
          </a:p>
          <a:p>
            <a:r>
              <a:rPr lang="en-US" altLang="en-US">
                <a:sym typeface="+mn-ea"/>
              </a:rPr>
              <a:t>This means the dataset is imbalanced.</a:t>
            </a:r>
            <a:endParaRPr lang="en-US" altLang="en-US"/>
          </a:p>
          <a:p>
            <a:r>
              <a:rPr lang="en-US" altLang="en-US">
                <a:sym typeface="+mn-ea"/>
              </a:rPr>
              <a:t>We used metrics like PR-AUC and ROC-AUC.</a:t>
            </a:r>
            <a:endParaRPr lang="en-US" altLang="en-US"/>
          </a:p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t="1683"/>
          <a:stretch>
            <a:fillRect/>
          </a:stretch>
        </p:blipFill>
        <p:spPr>
          <a:xfrm>
            <a:off x="6563995" y="3234055"/>
            <a:ext cx="5323840" cy="3524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feature engineering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ym typeface="+mn-ea"/>
              </a:rPr>
              <a:t>We created provider-level features: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endParaRPr lang="en-US" altLang="en-US"/>
          </a:p>
          <a:p>
            <a:r>
              <a:rPr lang="en-US" altLang="en-US">
                <a:sym typeface="+mn-ea"/>
              </a:rPr>
              <a:t>Inpatient claim stats</a:t>
            </a:r>
            <a:endParaRPr lang="en-US" altLang="en-US"/>
          </a:p>
          <a:p>
            <a:r>
              <a:rPr lang="en-US" altLang="en-US">
                <a:sym typeface="+mn-ea"/>
              </a:rPr>
              <a:t>Outpatient claim stats</a:t>
            </a:r>
            <a:endParaRPr lang="en-US" altLang="en-US"/>
          </a:p>
          <a:p>
            <a:r>
              <a:rPr lang="en-US" altLang="en-US">
                <a:sym typeface="+mn-ea"/>
              </a:rPr>
              <a:t>Beneficiary info (coverage months, chronic conditions)</a:t>
            </a:r>
            <a:endParaRPr lang="en-US" altLang="en-US"/>
          </a:p>
          <a:p>
            <a:r>
              <a:rPr lang="en-US" altLang="en-US">
                <a:sym typeface="+mn-ea"/>
              </a:rPr>
              <a:t>Total claims, total beneficiaries</a:t>
            </a:r>
            <a:endParaRPr lang="en-US" altLang="en-US"/>
          </a:p>
          <a:p>
            <a:r>
              <a:rPr lang="en-US" altLang="en-US">
                <a:sym typeface="+mn-ea"/>
              </a:rPr>
              <a:t>Inpatient/Outpatient ratio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models tested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Logistic Regression</a:t>
            </a:r>
            <a:endParaRPr lang="en-US" altLang="en-US"/>
          </a:p>
          <a:p>
            <a:r>
              <a:rPr lang="en-US" altLang="en-US">
                <a:sym typeface="+mn-ea"/>
              </a:rPr>
              <a:t>Random Forest</a:t>
            </a:r>
            <a:endParaRPr lang="en-US" altLang="en-US"/>
          </a:p>
          <a:p>
            <a:r>
              <a:rPr lang="en-US" altLang="en-US">
                <a:sym typeface="+mn-ea"/>
              </a:rPr>
              <a:t>Gradient Boosting</a:t>
            </a:r>
            <a:endParaRPr lang="en-US" altLang="en-US"/>
          </a:p>
          <a:p>
            <a:r>
              <a:rPr lang="en-US" altLang="en-US">
                <a:sym typeface="+mn-ea"/>
              </a:rPr>
              <a:t>Used class weights to handle imbalance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745" y="412433"/>
            <a:ext cx="10972800" cy="1143000"/>
          </a:xfrm>
        </p:spPr>
        <p:txBody>
          <a:bodyPr/>
          <a:p>
            <a:r>
              <a:rPr lang="en-US" b="1">
                <a:solidFill>
                  <a:schemeClr val="tx1"/>
                </a:solidFill>
              </a:rPr>
              <a:t>models comparison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125" y="1555750"/>
            <a:ext cx="10972800" cy="4525963"/>
          </a:xfrm>
        </p:spPr>
        <p:txBody>
          <a:bodyPr>
            <a:normAutofit lnSpcReduction="20000"/>
          </a:bodyPr>
          <a:p>
            <a:r>
              <a:rPr lang="en-US" altLang="en-US">
                <a:sym typeface="+mn-ea"/>
              </a:rPr>
              <a:t>Logistic Regression: Good recall</a:t>
            </a:r>
            <a:endParaRPr lang="en-US" altLang="en-US"/>
          </a:p>
          <a:p>
            <a:r>
              <a:rPr lang="en-US" altLang="en-US">
                <a:sym typeface="+mn-ea"/>
              </a:rPr>
              <a:t>Random Forest: Best overall</a:t>
            </a:r>
            <a:endParaRPr lang="en-US" altLang="en-US"/>
          </a:p>
          <a:p>
            <a:r>
              <a:rPr lang="en-US" altLang="en-US">
                <a:sym typeface="+mn-ea"/>
              </a:rPr>
              <a:t>Gradient Boosting: Good balance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 sz="3600">
                <a:sym typeface="+mn-ea"/>
              </a:rPr>
              <a:t>-</a:t>
            </a:r>
            <a:r>
              <a:rPr lang="en-US" altLang="en-US">
                <a:sym typeface="+mn-ea"/>
              </a:rPr>
              <a:t>Metrics to add:</a:t>
            </a:r>
            <a:endParaRPr lang="en-US" altLang="en-US"/>
          </a:p>
          <a:p>
            <a:r>
              <a:rPr lang="en-US" altLang="en-US">
                <a:sym typeface="+mn-ea"/>
              </a:rPr>
              <a:t>ROC-AUC</a:t>
            </a:r>
            <a:endParaRPr lang="en-US" altLang="en-US"/>
          </a:p>
          <a:p>
            <a:r>
              <a:rPr lang="en-US" altLang="en-US">
                <a:sym typeface="+mn-ea"/>
              </a:rPr>
              <a:t>PR-AUC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endParaRPr lang="en-US" altLang="en-US"/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9825" y="3836670"/>
            <a:ext cx="4105275" cy="28600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225" y="1917700"/>
            <a:ext cx="4192905" cy="28378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tx1"/>
                </a:solidFill>
              </a:rPr>
              <a:t>final model results(random forest)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620" y="2000250"/>
            <a:ext cx="10972800" cy="4525963"/>
          </a:xfrm>
        </p:spPr>
        <p:txBody>
          <a:bodyPr/>
          <a:p>
            <a:r>
              <a:rPr lang="en-US" altLang="en-US">
                <a:sym typeface="+mn-ea"/>
              </a:rPr>
              <a:t>Fraud precision: 0.66</a:t>
            </a:r>
            <a:endParaRPr lang="en-US" altLang="en-US"/>
          </a:p>
          <a:p>
            <a:r>
              <a:rPr lang="en-US" altLang="en-US">
                <a:sym typeface="+mn-ea"/>
              </a:rPr>
              <a:t>Fraud recall: 0.66</a:t>
            </a:r>
            <a:endParaRPr lang="en-US" altLang="en-US"/>
          </a:p>
          <a:p>
            <a:r>
              <a:rPr lang="en-US" altLang="en-US">
                <a:sym typeface="+mn-ea"/>
              </a:rPr>
              <a:t>Accuracy: 0.94</a:t>
            </a:r>
            <a:endParaRPr lang="en-US" altLang="en-US"/>
          </a:p>
          <a:p>
            <a:r>
              <a:rPr lang="en-US" altLang="en-US">
                <a:sym typeface="+mn-ea"/>
              </a:rPr>
              <a:t>ROC-AUC: 0.95</a:t>
            </a:r>
            <a:endParaRPr lang="en-US" altLang="en-US"/>
          </a:p>
          <a:p>
            <a:r>
              <a:rPr lang="en-US" altLang="en-US">
                <a:sym typeface="+mn-ea"/>
              </a:rPr>
              <a:t>PR-AUC: 0.73</a:t>
            </a:r>
            <a:endParaRPr lang="en-US" altLang="en-US"/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4795" y="1417955"/>
            <a:ext cx="6616065" cy="4994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feature importance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" y="1971040"/>
            <a:ext cx="10972800" cy="4525963"/>
          </a:xfrm>
        </p:spPr>
        <p:txBody>
          <a:bodyPr/>
          <a:p>
            <a:r>
              <a:rPr lang="en-US" altLang="en-US">
                <a:sym typeface="+mn-ea"/>
              </a:rPr>
              <a:t>The model relied heavily on:</a:t>
            </a:r>
            <a:endParaRPr lang="en-US" altLang="en-US"/>
          </a:p>
          <a:p>
            <a:r>
              <a:rPr lang="en-US" altLang="en-US">
                <a:sym typeface="+mn-ea"/>
              </a:rPr>
              <a:t>Total reimbursements</a:t>
            </a:r>
            <a:endParaRPr lang="en-US" altLang="en-US"/>
          </a:p>
          <a:p>
            <a:r>
              <a:rPr lang="en-US" altLang="en-US">
                <a:sym typeface="+mn-ea"/>
              </a:rPr>
              <a:t>Total claim counts</a:t>
            </a:r>
            <a:endParaRPr lang="en-US" altLang="en-US"/>
          </a:p>
          <a:p>
            <a:r>
              <a:rPr lang="en-US" altLang="en-US">
                <a:sym typeface="+mn-ea"/>
              </a:rPr>
              <a:t>Beneficiary chronic condition rates</a:t>
            </a:r>
            <a:endParaRPr lang="en-US" altLang="en-US"/>
          </a:p>
          <a:p>
            <a:r>
              <a:rPr lang="en-US" altLang="en-US">
                <a:sym typeface="+mn-ea"/>
              </a:rPr>
              <a:t>Claim ratios</a:t>
            </a:r>
            <a:endParaRPr lang="en-US" altLang="en-US"/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3429" r="5311" b="1787"/>
          <a:stretch>
            <a:fillRect/>
          </a:stretch>
        </p:blipFill>
        <p:spPr>
          <a:xfrm>
            <a:off x="6776085" y="1296035"/>
            <a:ext cx="5455920" cy="530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error analysis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45" y="1417955"/>
            <a:ext cx="12192000" cy="5692775"/>
          </a:xfrm>
        </p:spPr>
        <p:txBody>
          <a:bodyPr/>
          <a:p>
            <a:r>
              <a:rPr lang="en-US" altLang="en-US" b="1">
                <a:sym typeface="+mn-ea"/>
              </a:rPr>
              <a:t>False Positives:</a:t>
            </a:r>
            <a:endParaRPr lang="en-US" altLang="en-US" b="1"/>
          </a:p>
          <a:p>
            <a:r>
              <a:rPr lang="en-US" altLang="en-US">
                <a:sym typeface="+mn-ea"/>
              </a:rPr>
              <a:t>Looked like fraud (high claims) but were not.</a:t>
            </a:r>
            <a:endParaRPr lang="en-US" altLang="en-US">
              <a:sym typeface="+mn-ea"/>
            </a:endParaRPr>
          </a:p>
          <a:p>
            <a:endParaRPr lang="en-US" altLang="en-US"/>
          </a:p>
          <a:p>
            <a:r>
              <a:rPr lang="en-US" altLang="en-US" b="1">
                <a:sym typeface="+mn-ea"/>
              </a:rPr>
              <a:t>False Negatives:</a:t>
            </a:r>
            <a:endParaRPr lang="en-US" altLang="en-US" b="1"/>
          </a:p>
          <a:p>
            <a:r>
              <a:rPr lang="en-US" altLang="en-US">
                <a:sym typeface="+mn-ea"/>
              </a:rPr>
              <a:t>Actual fraud cases that were hard 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  to detect.</a:t>
            </a:r>
            <a:endParaRPr lang="en-US" altLang="en-US"/>
          </a:p>
          <a:p>
            <a:r>
              <a:rPr lang="en-US" altLang="en-US">
                <a:sym typeface="+mn-ea"/>
              </a:rPr>
              <a:t>Low claim activity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5109" r="11615" b="2788"/>
          <a:stretch>
            <a:fillRect/>
          </a:stretch>
        </p:blipFill>
        <p:spPr>
          <a:xfrm>
            <a:off x="7288530" y="2669540"/>
            <a:ext cx="4766310" cy="40747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conclusion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Random Forest performed best.</a:t>
            </a:r>
            <a:endParaRPr lang="en-US" altLang="en-US"/>
          </a:p>
          <a:p>
            <a:r>
              <a:rPr lang="en-US" altLang="en-US">
                <a:sym typeface="+mn-ea"/>
              </a:rPr>
              <a:t>Model can help investigators focus their time.</a:t>
            </a:r>
            <a:endParaRPr lang="en-US" altLang="en-US"/>
          </a:p>
          <a:p>
            <a:r>
              <a:rPr lang="en-US" altLang="en-US">
                <a:sym typeface="+mn-ea"/>
              </a:rPr>
              <a:t>Improvements could include:</a:t>
            </a:r>
            <a:endParaRPr lang="en-US" altLang="en-US"/>
          </a:p>
          <a:p>
            <a:r>
              <a:rPr lang="en-US" altLang="en-US">
                <a:sym typeface="+mn-ea"/>
              </a:rPr>
              <a:t>Boosting models (XGBoost)</a:t>
            </a:r>
            <a:endParaRPr lang="en-US" altLang="en-US"/>
          </a:p>
          <a:p>
            <a:r>
              <a:rPr lang="en-US" altLang="en-US">
                <a:sym typeface="+mn-ea"/>
              </a:rPr>
              <a:t>Oversampling</a:t>
            </a:r>
            <a:endParaRPr lang="en-US" altLang="en-US"/>
          </a:p>
          <a:p>
            <a:r>
              <a:rPr lang="en-US" altLang="en-US">
                <a:sym typeface="+mn-ea"/>
              </a:rPr>
              <a:t>Adding time-based features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2846705"/>
            <a:ext cx="10515600" cy="1325563"/>
          </a:xfrm>
        </p:spPr>
        <p:txBody>
          <a:bodyPr/>
          <a:p>
            <a:r>
              <a:rPr lang="en-US" sz="6600" b="1">
                <a:solidFill>
                  <a:schemeClr val="tx1"/>
                </a:solidFill>
              </a:rPr>
              <a:t>Thank you</a:t>
            </a:r>
            <a:endParaRPr lang="en-US" sz="6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1830</Words>
  <Application>WPS Presentation</Application>
  <PresentationFormat>Widescreen</PresentationFormat>
  <Paragraphs>114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pc</dc:creator>
  <cp:lastModifiedBy>Salma Elhossiny</cp:lastModifiedBy>
  <cp:revision>5</cp:revision>
  <dcterms:created xsi:type="dcterms:W3CDTF">2025-07-23T00:59:00Z</dcterms:created>
  <dcterms:modified xsi:type="dcterms:W3CDTF">2025-12-02T22:04:27Z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7B9003FEFC6B46F1BB9B2EA5428854E9_13</vt:lpwstr>
  </property>
  <property fmtid="{D5CDD505-2E9C-101B-9397-08002B2CF9AE}" pid="3" name="KSOProductBuildVer">
    <vt:lpwstr>1033-12.2.0.23155</vt:lpwstr>
  </property>
</Properties>
</file>